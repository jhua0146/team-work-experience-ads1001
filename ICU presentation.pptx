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5143500" cx="9144000"/>
  <p:notesSz cx="6858000" cy="9144000"/>
  <p:embeddedFontLst>
    <p:embeddedFont>
      <p:font typeface="Montserrat"/>
      <p:regular r:id="rId24"/>
      <p:bold r:id="rId25"/>
      <p:italic r:id="rId26"/>
      <p:boldItalic r:id="rId27"/>
    </p:embeddedFont>
    <p:embeddedFont>
      <p:font typeface="La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Lato-regular.fntdata"/><Relationship Id="rId27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boldItalic.fntdata"/><Relationship Id="rId3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2c32dd36c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2c32dd36c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2df007dd8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2df007dd8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2e5030e1a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2e5030e1a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e5030e1ac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2e5030e1ac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2e5030e1ac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2e5030e1ac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2e5030e1a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2e5030e1a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2e5030e1a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2e5030e1a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2e5030e1a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12e5030e1a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2e5030e1ac_4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2e5030e1ac_4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2df007dd8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2df007dd8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2e5aaed6f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12e5aaed6f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2e5030e1ac_4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2e5030e1ac_4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e5030e1ac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12e5030e1ac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2e5030e1ac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2e5030e1ac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2e5030e1ac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2e5030e1ac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2df007dd8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12df007dd8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2db5fd75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2db5fd75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Factors impacting Mortality Rate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/>
              <a:t> Junwei,  Noha, Junchi, Jess, Oliver, Sarayu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100"/>
              <a:t>Introduction</a:t>
            </a:r>
            <a:endParaRPr sz="3100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-GB" sz="1700"/>
              <a:t>Aim: build a predictive model of patient’s outcome in ICU based on SAPS scores, which are a physiological score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en-GB" sz="1700"/>
              <a:t>Used to determine the final predicted outcome for the patient 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4600" y="2697324"/>
            <a:ext cx="3135149" cy="217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391600" y="1997400"/>
            <a:ext cx="61668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/>
              <a:t>Q1</a:t>
            </a:r>
            <a:r>
              <a:rPr lang="en-GB" sz="2920"/>
              <a:t>: </a:t>
            </a:r>
            <a:endParaRPr sz="2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/>
              <a:t>Which variables contribute the most to a person’s death? </a:t>
            </a:r>
            <a:endParaRPr sz="29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SAPS vs SOFA</a:t>
            </a:r>
            <a:endParaRPr sz="2600"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043775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Simplified Acute Physiology Score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Used to score ICU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17 cumulative variables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Predict mortality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Sequential Organ Failure Assessment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Assesses performance of  organs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GB" sz="1700"/>
              <a:t>Based on 6 different criteria 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4349" y="278250"/>
            <a:ext cx="4587000" cy="45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749925" y="1475300"/>
            <a:ext cx="3148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Looked at outcome related descriptors - SAPS and SOFA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SAPS was more relevant and accurate to mortality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Small section of all variable pair plot 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-"/>
            </a:pPr>
            <a:r>
              <a:rPr lang="en-GB" sz="1500"/>
              <a:t>Focused on variables relevant to SAPS 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718900" y="1997400"/>
            <a:ext cx="75513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/>
              <a:t>Q2: </a:t>
            </a:r>
            <a:endParaRPr sz="2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/>
              <a:t>How does the saps score help us determine which variables carry a greater risk of death? </a:t>
            </a:r>
            <a:endParaRPr sz="29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 txBox="1"/>
          <p:nvPr>
            <p:ph idx="1" type="body"/>
          </p:nvPr>
        </p:nvSpPr>
        <p:spPr>
          <a:xfrm>
            <a:off x="1297500" y="1629625"/>
            <a:ext cx="7038900" cy="28491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Montserrat"/>
                <a:ea typeface="Montserrat"/>
                <a:cs typeface="Montserrat"/>
                <a:sym typeface="Montserrat"/>
              </a:rPr>
              <a:t>Sodium &lt; 125 mmol/L    </a:t>
            </a:r>
            <a:r>
              <a:rPr b="1" lang="en-GB" sz="2400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MORE DANGEROUS!</a:t>
            </a:r>
            <a:endParaRPr b="1" sz="24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Montserrat"/>
                <a:ea typeface="Montserrat"/>
                <a:cs typeface="Montserrat"/>
                <a:sym typeface="Montserrat"/>
              </a:rPr>
              <a:t>Sodium &gt; 145 mmol/L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Montserrat"/>
                <a:ea typeface="Montserrat"/>
                <a:cs typeface="Montserrat"/>
                <a:sym typeface="Montserrat"/>
              </a:rPr>
              <a:t>Minimum Sodium ✔</a:t>
            </a:r>
            <a:endParaRPr sz="2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/>
          <p:nvPr>
            <p:ph type="title"/>
          </p:nvPr>
        </p:nvSpPr>
        <p:spPr>
          <a:xfrm>
            <a:off x="823850" y="2053000"/>
            <a:ext cx="78981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Q3 : 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/>
              <a:t>What combination of factors would contribute to the increase in mortality the most?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 of correlation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6" name="Google Shape;19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954000"/>
            <a:ext cx="6828474" cy="418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Logistic regression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3" name="Google Shape;20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325" y="1567550"/>
            <a:ext cx="8793300" cy="29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823850" y="2053000"/>
            <a:ext cx="80214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Q4: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50"/>
              <a:t>How do the unknown variables (ie. daily urine output, chronic disease, type of admission) contribute to the final predictive outcome?</a:t>
            </a:r>
            <a:endParaRPr sz="26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4" name="Google Shape;21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849" y="812000"/>
            <a:ext cx="7207349" cy="3630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756725" y="1997400"/>
            <a:ext cx="76899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/>
              <a:t>Q5: </a:t>
            </a:r>
            <a:endParaRPr sz="29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/>
              <a:t>Is it possible to make a predictive model based on the variables to determine if a hypothetical patient would survive in the ICU?</a:t>
            </a:r>
            <a:endParaRPr sz="292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Predictive Modeling</a:t>
            </a:r>
            <a:endParaRPr/>
          </a:p>
        </p:txBody>
      </p:sp>
      <p:pic>
        <p:nvPicPr>
          <p:cNvPr id="225" name="Google Shape;22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118750"/>
            <a:ext cx="3486806" cy="353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8"/>
          <p:cNvSpPr txBox="1"/>
          <p:nvPr/>
        </p:nvSpPr>
        <p:spPr>
          <a:xfrm>
            <a:off x="5068175" y="1286750"/>
            <a:ext cx="3486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Max BUN + Max Potassium =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0.613 train, 0.6441 test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Max BUN + Min Potassium  = 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0.6166 train, 0.6440 test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Max BUN + Min Bicarbonate = 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0.6378 train, 0.6407 test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7" name="Google Shape;227;p28"/>
          <p:cNvSpPr txBox="1"/>
          <p:nvPr/>
        </p:nvSpPr>
        <p:spPr>
          <a:xfrm>
            <a:off x="1257100" y="4649600"/>
            <a:ext cx="356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Example: Max BUN + Max K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All 4 Variables (Max BUN, Max and Min Potassium, Min Bicarbonate)</a:t>
            </a:r>
            <a:endParaRPr/>
          </a:p>
        </p:txBody>
      </p:sp>
      <p:pic>
        <p:nvPicPr>
          <p:cNvPr id="233" name="Google Shape;23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244800"/>
            <a:ext cx="3764400" cy="366512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9"/>
          <p:cNvSpPr txBox="1"/>
          <p:nvPr/>
        </p:nvSpPr>
        <p:spPr>
          <a:xfrm>
            <a:off x="895375" y="1244800"/>
            <a:ext cx="3303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0.6395 train, 0.6542 test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Lato"/>
              <a:buChar char="-"/>
            </a:pPr>
            <a:r>
              <a:rPr lang="en-GB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This predictive model, whilst only around 15% better than a coin toss, is only made up of 4 variables. So in hindsight, makes for a decent predictive model.</a:t>
            </a:r>
            <a:endParaRPr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/>
              <a:t>Conclusion</a:t>
            </a:r>
            <a:endParaRPr sz="2600"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Correlated Variables: </a:t>
            </a:r>
            <a:endParaRPr sz="16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Maximum Blood Urea Nitrogen (BUN) 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Minimum Potassium (K)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Maximum </a:t>
            </a:r>
            <a:r>
              <a:rPr lang="en-GB" sz="1400"/>
              <a:t>Potassium</a:t>
            </a:r>
            <a:r>
              <a:rPr lang="en-GB" sz="1400"/>
              <a:t> (K)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-GB" sz="1400"/>
              <a:t>Minimum Bicarbonate (HCO3) </a:t>
            </a:r>
            <a:endParaRPr sz="14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Final Model: 15% better than a </a:t>
            </a:r>
            <a:r>
              <a:rPr lang="en-GB" sz="1600"/>
              <a:t>coin</a:t>
            </a:r>
            <a:r>
              <a:rPr lang="en-GB" sz="1600"/>
              <a:t> toss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Not fully valid due to missing variables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Further analysis would allow SAPS as only one indicator of morality 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